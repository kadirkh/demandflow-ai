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9728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DemandFlow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</a:rPr>
              <a:t>Autonomous Supply Chain Forecasting &amp; Inventory Balancing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85292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An enterprise-grade AI platform that transforms raw market and warehouse data into
automated inventory directives — helping Indian manufacturers eliminate overproduction,
prevent stockouts, and optimise working capital across the full supply 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977639"/>
            <a:ext cx="15087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00507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Next.js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3977639"/>
            <a:ext cx="1508760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400507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977639"/>
            <a:ext cx="15087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79" y="400507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Python 3.13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3977639"/>
            <a:ext cx="15087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400507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77639"/>
            <a:ext cx="1508760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400507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0"/>
            <a:ext cx="117317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Presented by: DemandFlow AI Team  |  github.com/KadirKh/DemandFlow-AI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Project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DemandFlow AI  —  Autonomous Supply Chain Forecasting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0972800" cy="448056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109728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S.NO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72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NAME OF THE 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572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ENROLLMENT NUMBER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508760"/>
            <a:ext cx="27432" cy="4480560"/>
          </a:xfrm>
          <a:prstGeom prst="rect">
            <a:avLst/>
          </a:prstGeom>
          <a:solidFill>
            <a:srgbClr val="3A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62672" y="1508760"/>
            <a:ext cx="27432" cy="4480560"/>
          </a:xfrm>
          <a:prstGeom prst="rect">
            <a:avLst/>
          </a:prstGeom>
          <a:solidFill>
            <a:srgbClr val="3A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011680"/>
            <a:ext cx="10972800" cy="71323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01168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22128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Challa Lokesh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2176272"/>
            <a:ext cx="3520440" cy="384048"/>
          </a:xfrm>
          <a:prstGeom prst="roundRect">
            <a:avLst/>
          </a:prstGeom>
          <a:solidFill>
            <a:srgbClr val="25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2303031240031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743200"/>
            <a:ext cx="10972800" cy="713232"/>
          </a:xfrm>
          <a:prstGeom prst="rect">
            <a:avLst/>
          </a:prstGeom>
          <a:solidFill>
            <a:srgbClr val="1E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2743200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443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</a:rPr>
              <a:t>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29443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Khatri Abdul Kadir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9248" y="2907792"/>
            <a:ext cx="3520440" cy="384048"/>
          </a:xfrm>
          <a:prstGeom prst="roundRect">
            <a:avLst/>
          </a:prstGeom>
          <a:solidFill>
            <a:srgbClr val="25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971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2303051240368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474720"/>
            <a:ext cx="10972800" cy="71323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47472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67588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367588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Govind Sankhala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8" y="3639312"/>
            <a:ext cx="3520440" cy="384048"/>
          </a:xfrm>
          <a:prstGeom prst="roundRect">
            <a:avLst/>
          </a:prstGeom>
          <a:solidFill>
            <a:srgbClr val="25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3703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2303051240199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206240"/>
            <a:ext cx="10972800" cy="713232"/>
          </a:xfrm>
          <a:prstGeom prst="rect">
            <a:avLst/>
          </a:prstGeom>
          <a:solidFill>
            <a:srgbClr val="1E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206240"/>
            <a:ext cx="54864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40740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44074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Manikant Kumar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4370832"/>
            <a:ext cx="3520440" cy="384048"/>
          </a:xfrm>
          <a:prstGeom prst="roundRect">
            <a:avLst/>
          </a:prstGeom>
          <a:solidFill>
            <a:srgbClr val="25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2303031310005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937760"/>
            <a:ext cx="10972800" cy="713232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4937760"/>
            <a:ext cx="54864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1389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</a:rPr>
              <a:t>5.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3392" y="513892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D. Kasim Basha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9248" y="5102352"/>
            <a:ext cx="3520440" cy="384048"/>
          </a:xfrm>
          <a:prstGeom prst="roundRect">
            <a:avLst/>
          </a:prstGeom>
          <a:solidFill>
            <a:srgbClr val="25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45552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2303031460209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6080760"/>
            <a:ext cx="10972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Bachelor of Technology  •  Dept. of Computer Science &amp; Engineering  •  DemandFlow AI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Indian supply chains lose billions annually to these 4 critical inefficiencies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5577840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48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🏭 Overproduction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77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Karkhanas run 24x7 even when distributors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hold 80–100% unsold inventory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Cash locked in raw materials &amp; wages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Godown space exhausted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5577840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20240"/>
            <a:ext cx="5577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048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📦 Stockout Cascades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77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Demand spikes are not predicted early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Retailers face empty shelves mid-season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Lost revenue, customer churn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Emergency procurement at high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14800"/>
            <a:ext cx="5577840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114800"/>
            <a:ext cx="5577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2428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🗺️ Regional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5720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One city warehouse: 95 units surplus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Another city warehouse: 3 units remaining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Zero visibility across locations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Transfers happen weeks late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114800"/>
            <a:ext cx="5577840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55778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2428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💸 Credit Default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5720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Distributors over-leveraged on bad stock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Payment defaults block next production cycle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Working capital completely choked</a:t>
            </a:r>
          </a:p>
          <a:p>
            <a:pPr algn="l"/>
            <a:r>
              <a:rPr sz="1000" b="0">
                <a:solidFill>
                  <a:srgbClr val="94A3B8"/>
                </a:solidFill>
              </a:rPr>
              <a:t>→ Factory halts entire SKU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DemandFlow AI —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One unified platform that reads your data and tells your team exactly what to do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423160" cy="19202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4231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Upload Market Demand
&amp; Inventory CSVs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011680"/>
            <a:ext cx="2423160" cy="19202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423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AI rules engine scores
every SKU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2011680"/>
            <a:ext cx="2423160" cy="19202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79" y="2011680"/>
            <a:ext cx="2423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60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Kanban inbox of
Hold / Resume / Transfer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399" y="2011680"/>
            <a:ext cx="2423160" cy="19202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399" y="2011680"/>
            <a:ext cx="2423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9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2560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Live telemetry dashboard
&amp; tuning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60520"/>
            <a:ext cx="2697480" cy="10972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6052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₹ Working Capital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617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Freed by pausing overproduced SKUs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4160520"/>
            <a:ext cx="2697480" cy="10972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4160520"/>
            <a:ext cx="54864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⏱ Capacity Shift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617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Reallocate hours to high-demand 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60520"/>
            <a:ext cx="2697480" cy="10972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16052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🛡 Credit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617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Prevented payment default lockups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4160520"/>
            <a:ext cx="2697480" cy="10972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4160520"/>
            <a:ext cx="54864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152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📦 Godown Savings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4617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Reduce stockist storage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Clean monorepo: Next.js console ↔ FastAPI ↔ Scikit-Learn ML ↔ 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606040" cy="38404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60604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PRESENTATION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6032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Next.js 16 / 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Material Design 3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39312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73075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Recharts Visualizations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24528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3159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Real-time hot reload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1920240"/>
            <a:ext cx="2606040" cy="38404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1920240"/>
            <a:ext cx="26060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API / BUSINESS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8104" y="3566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2468880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5304" y="256032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FastAPI + Uvicorn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3054096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31455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Google OAuth 2.0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432" y="3639312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5304" y="373075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JWT token 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432" y="4224528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43159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CSV validation &amp; ingestion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9904" y="1920240"/>
            <a:ext cx="2606040" cy="38404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9904" y="192024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ML / INTELLIGENCE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8736" y="3566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7064" y="2468880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256032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Scikit-Learn LinearRegression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7064" y="3054096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31455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Rolling avg + lag features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3639312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373075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Safety Stock formula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7064" y="4224528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43159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Reorder Point (ROP) math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0536" y="1920240"/>
            <a:ext cx="2606040" cy="38404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60536" y="1920240"/>
            <a:ext cx="2606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97696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DATA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9367" y="3566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97696" y="2468880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6567" y="256032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SQLite + SQLAlchemy 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97696" y="3054096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16567" y="31455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Users / Products / Inventory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97696" y="3639312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16567" y="373075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Recommendations table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97696" y="4224528"/>
            <a:ext cx="2331720" cy="457200"/>
          </a:xfrm>
          <a:prstGeom prst="roundRect">
            <a:avLst/>
          </a:prstGeom>
          <a:solidFill>
            <a:srgbClr val="24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16567" y="43159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Market + InventoryData tables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← API calls / data flow (left to right: request, right to left: response)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Rules Engine &amp; ML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How DemandFlow transforms numbers into actionable inventory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5303520" cy="4297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3035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⚙️  Decision Rules Engine (predictor.py)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23744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0545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Rule A — HOLD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249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Distributor stock ≥ 80 units (&gt;80% capacity)
→ Halt new manufacturing, free working capital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55264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3697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Rule B — RESUME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56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Distributor stock ≤ 30 units (&lt;30% capacity)
→ Restart assembly lines to refill channels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86784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6849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Rule C — BALANCE NET 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1879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Total local demand vs on-hand inventory mismatch
→ Deficit triggers 15% ramp-up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18304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0001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Rule D — REGIONAL 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9194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One warehouse &gt;30 units, another &lt;5 units same SKU
→ Transfer alert for inter-city stock rebalancing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9824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4315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Rule E — QUALITY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6509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Factory production &gt;50 units, retail sales &lt;10%
→ Flags suspected quality control failure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920240"/>
            <a:ext cx="5376672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920240"/>
            <a:ext cx="537667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057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📈  Scikit-Learn Forecaster (forecaster.py)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688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lag_1, lag_7, lag_14  — historical demand lags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249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rolling_mean_7/14     — smoothed demand trends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809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day_of_week, month    — seasonal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369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promo_flag            — weekend promotion 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930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• temp_feature          — annual sinusoidal pattern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69080"/>
            <a:ext cx="5376672" cy="21488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069080"/>
            <a:ext cx="537667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📐  Safety Stock &amp; ROP Formulas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720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Safety Stock  =  Z × √( LT×σ²_d  +  μ²_d×σ²_LT 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188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657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Reorder Point  =  (Avg Daily Demand × Lead Time)  +  Safety Stock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3126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595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59E0B"/>
                </a:solidFill>
              </a:rPr>
              <a:t>Where:  Z = 1.65 (95% service level)   σ = std dev of demand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8064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        LT = supplier lead time (days)   μ = avg daily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PRODUCT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Dashboard — 5 Workspaces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fully tabbed console giving every role exactly the information they need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2084831" cy="4389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084831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29968"/>
            <a:ext cx="384048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84831"/>
            <a:ext cx="1353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1856231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Live telemetry:
• Working Capital Freed (₹)
• Capacity Shift Hours
• Godown Savings (₹)
• Credit Risk Offset (₹)
• Inventory Discrepancy Map
• Demand Surge Simulator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2344" y="1901952"/>
            <a:ext cx="2084831" cy="4389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52344" y="1901952"/>
            <a:ext cx="2084831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89503" y="2029968"/>
            <a:ext cx="384048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6936" y="205740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3" y="2084831"/>
            <a:ext cx="1353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9503" y="2542032"/>
            <a:ext cx="1856231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3-column Kanban Board:
• Pending hold/resume cards
• Under structural review
• Approved / Rejected
• Detail side panel with
  30-day demand projections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6047" y="1901952"/>
            <a:ext cx="2084831" cy="4389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6047" y="1901952"/>
            <a:ext cx="2084831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93207" y="2029968"/>
            <a:ext cx="384048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39" y="205740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0407" y="2084831"/>
            <a:ext cx="1353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Research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7" y="2542032"/>
            <a:ext cx="1856231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30-day deep-dive charts:
• SKU-999, SKU-888, SKU-777
• Demand + Stock + Safety lines
• Surge simulation slider
• Concept Glossary:
  Safety Stock, ROP, Spatial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1" y="1901952"/>
            <a:ext cx="2084831" cy="4389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59751" y="1901952"/>
            <a:ext cx="2084831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96911" y="2029968"/>
            <a:ext cx="38404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4343" y="205740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1" y="2084831"/>
            <a:ext cx="1353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Ingest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1" y="2542032"/>
            <a:ext cx="1856231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CSV upload zone:
• Market Demand CSV
• Stock Inventory CSV
• Validate → Process → Predict
• 1000-row demo datasheets
  included for testing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63455" y="1901952"/>
            <a:ext cx="2084831" cy="4389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63455" y="1901952"/>
            <a:ext cx="2084831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0615" y="2029968"/>
            <a:ext cx="384048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8047" y="205740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7815" y="2084831"/>
            <a:ext cx="1353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615" y="2542032"/>
            <a:ext cx="1856231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Interactive slider matrix:
• Working Capital Factor (₹)
• Assembly Shift Hours
• Godown Storage Factor (₹)
• Credit Risk Factor (₹)
• Safety Buffer target units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Indian Karkhana Business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Replacing generic carbon data with real ₹-impact telemetry for Indian manufacturers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4572000" cy="4389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❌  Removed (irrelevant for India)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95728"/>
            <a:ext cx="4297680" cy="502920"/>
          </a:xfrm>
          <a:prstGeom prst="roundRect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CO₂ Saved (kg) — factories run 24x7 regardless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4297680" cy="502920"/>
          </a:xfrm>
          <a:prstGeom prst="roundRect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0906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Fuel Burn Saved (Gallons) — no actionable 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39312"/>
            <a:ext cx="4297680" cy="502920"/>
          </a:xfrm>
          <a:prstGeom prst="roundRect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39312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1246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Generic USD storage cost ($)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 Added (Indian market reality)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4297680" cy="438912"/>
          </a:xfrm>
          <a:prstGeom prst="roundRect">
            <a:avLst/>
          </a:prstGeom>
          <a:solidFill>
            <a:srgbClr val="1A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70915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₹ Working Capital Freed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901183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Capital locked in overproduced SKUs released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66359"/>
            <a:ext cx="4297680" cy="438912"/>
          </a:xfrm>
          <a:prstGeom prst="roundRect">
            <a:avLst/>
          </a:prstGeom>
          <a:solidFill>
            <a:srgbClr val="1A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166359"/>
            <a:ext cx="54864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21207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⏱ Capacity Shift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404103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Machine hours freed &amp; shifted to fast SKUs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79"/>
            <a:ext cx="4297680" cy="438912"/>
          </a:xfrm>
          <a:prstGeom prst="roundRect">
            <a:avLst/>
          </a:prstGeom>
          <a:solidFill>
            <a:srgbClr val="1A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69279"/>
            <a:ext cx="54864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71499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🏚 Godown Storage 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907023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Reduced distributor godown rental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72200"/>
            <a:ext cx="4297680" cy="438912"/>
          </a:xfrm>
          <a:prstGeom prst="roundRect">
            <a:avLst/>
          </a:prstGeom>
          <a:solidFill>
            <a:srgbClr val="1A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6172200"/>
            <a:ext cx="54864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6217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🛡 Credit Default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64099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Prevented payment default chain reactions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1901952"/>
            <a:ext cx="6217920" cy="4389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2039112"/>
            <a:ext cx="5852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30-Day Projected Impact  (3 approved hold recommendations)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246888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Working Capital (₹)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2450592"/>
            <a:ext cx="3657600" cy="237744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06640" y="2450592"/>
            <a:ext cx="274320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7392" y="2468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13.5L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297180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Capacity Shift (Hrs)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2953512"/>
            <a:ext cx="3657600" cy="237744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06640" y="2953512"/>
            <a:ext cx="2798064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37392" y="29718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765 Hrs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47472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Godown Savings (₹)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3456432"/>
            <a:ext cx="3657600" cy="237744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3456432"/>
            <a:ext cx="2880360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37392" y="34747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9.45L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3977639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Credit Risk (₹)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959352"/>
            <a:ext cx="3657600" cy="237744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06640" y="3959352"/>
            <a:ext cx="27432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37392" y="397763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22.5L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60807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* Values shown for 3 approved 'Hold Production' cards over a 30-day window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RESEARCH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30-Day 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Research Lab visualizes how each SKU is likely to behave over the next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3566160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SKU-999 — Hold Production (High Inventory)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3063240"/>
            <a:ext cx="3236976" cy="9144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3063240"/>
            <a:ext cx="89611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995" y="2834640"/>
            <a:ext cx="89611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3894" y="2606040"/>
            <a:ext cx="89611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1793" y="2491740"/>
            <a:ext cx="89611" cy="1257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9692" y="2377440"/>
            <a:ext cx="89611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7592" y="2377440"/>
            <a:ext cx="89611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15491" y="2491740"/>
            <a:ext cx="89611" cy="1257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23390" y="2606040"/>
            <a:ext cx="89611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31289" y="2720340"/>
            <a:ext cx="89611" cy="1028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39188" y="2948940"/>
            <a:ext cx="89611" cy="800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47088" y="3177540"/>
            <a:ext cx="89611" cy="571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54987" y="3406140"/>
            <a:ext cx="89611" cy="3429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62886" y="3634740"/>
            <a:ext cx="89611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70785" y="3730752"/>
            <a:ext cx="89611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78684" y="3730752"/>
            <a:ext cx="89611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86584" y="3730752"/>
            <a:ext cx="89611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94483" y="3634740"/>
            <a:ext cx="89611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2382" y="3406140"/>
            <a:ext cx="89611" cy="3429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10281" y="3291840"/>
            <a:ext cx="8961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18180" y="3063240"/>
            <a:ext cx="89611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2834640"/>
            <a:ext cx="89611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33979" y="2606040"/>
            <a:ext cx="89611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41878" y="2491740"/>
            <a:ext cx="89611" cy="1257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49777" y="2377440"/>
            <a:ext cx="89611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57676" y="2377440"/>
            <a:ext cx="89611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65576" y="2491740"/>
            <a:ext cx="89611" cy="1257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73475" y="2606040"/>
            <a:ext cx="89611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81374" y="2834640"/>
            <a:ext cx="89611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89273" y="2948940"/>
            <a:ext cx="89611" cy="800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97172" y="3177540"/>
            <a:ext cx="89611" cy="571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43400" y="1920240"/>
            <a:ext cx="3566160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2029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SKU-888 — Resume Production (Low Inventory)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07992" y="3063240"/>
            <a:ext cx="3236976" cy="9144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17136" y="3730752"/>
            <a:ext cx="89611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25035" y="3701743"/>
            <a:ext cx="89611" cy="47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32934" y="3654446"/>
            <a:ext cx="89611" cy="9459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40833" y="3607150"/>
            <a:ext cx="89611" cy="14188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48732" y="3559853"/>
            <a:ext cx="89611" cy="18918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56631" y="3512557"/>
            <a:ext cx="89611" cy="23648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64531" y="3465260"/>
            <a:ext cx="89611" cy="2837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72430" y="3417964"/>
            <a:ext cx="89611" cy="331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80329" y="3370667"/>
            <a:ext cx="89611" cy="3783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8228" y="3323371"/>
            <a:ext cx="89611" cy="4256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96127" y="3276074"/>
            <a:ext cx="89611" cy="47296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04027" y="3228777"/>
            <a:ext cx="89611" cy="52026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11926" y="3181481"/>
            <a:ext cx="89611" cy="56755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19825" y="3134184"/>
            <a:ext cx="89611" cy="61485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27724" y="3086888"/>
            <a:ext cx="89611" cy="66215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35623" y="3039591"/>
            <a:ext cx="89611" cy="7094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43523" y="2992295"/>
            <a:ext cx="89611" cy="756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51422" y="2944998"/>
            <a:ext cx="89611" cy="80404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59321" y="2897702"/>
            <a:ext cx="89611" cy="85133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67220" y="2850405"/>
            <a:ext cx="89611" cy="89863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75120" y="2803108"/>
            <a:ext cx="89611" cy="9459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83019" y="2755812"/>
            <a:ext cx="89611" cy="99322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890918" y="2708515"/>
            <a:ext cx="89611" cy="10405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98817" y="2661219"/>
            <a:ext cx="89611" cy="10878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06716" y="2613922"/>
            <a:ext cx="89611" cy="113511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14616" y="2566626"/>
            <a:ext cx="89611" cy="118241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22515" y="2519329"/>
            <a:ext cx="89611" cy="12297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30414" y="2472033"/>
            <a:ext cx="89611" cy="12770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38313" y="2424736"/>
            <a:ext cx="89611" cy="132430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46212" y="2377440"/>
            <a:ext cx="89611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92440" y="1920240"/>
            <a:ext cx="3566160" cy="20116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75319" y="2029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SKU-777 — Regional Mismatch (Volatile Stock)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57031" y="3063240"/>
            <a:ext cx="3236976" cy="9144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66175" y="3063240"/>
            <a:ext cx="89611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74075" y="3200400"/>
            <a:ext cx="89611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481974" y="3337560"/>
            <a:ext cx="89611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89873" y="3447288"/>
            <a:ext cx="89611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697772" y="3557016"/>
            <a:ext cx="89611" cy="1920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05672" y="3639312"/>
            <a:ext cx="89611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13571" y="3694176"/>
            <a:ext cx="89611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021470" y="3730752"/>
            <a:ext cx="89611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129369" y="3730752"/>
            <a:ext cx="89611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237268" y="3721608"/>
            <a:ext cx="89611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5167" y="3694176"/>
            <a:ext cx="89611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453067" y="3611880"/>
            <a:ext cx="89611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60966" y="3529584"/>
            <a:ext cx="89611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668865" y="3419856"/>
            <a:ext cx="89611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76764" y="3282696"/>
            <a:ext cx="89611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84663" y="3172968"/>
            <a:ext cx="89611" cy="5760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992563" y="3035808"/>
            <a:ext cx="89611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100462" y="2898648"/>
            <a:ext cx="89611" cy="8503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208361" y="2761488"/>
            <a:ext cx="89611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316260" y="2651760"/>
            <a:ext cx="89611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24160" y="2542032"/>
            <a:ext cx="89611" cy="1207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32059" y="2459736"/>
            <a:ext cx="89611" cy="1289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39958" y="2404872"/>
            <a:ext cx="89611" cy="1344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7857" y="2377440"/>
            <a:ext cx="89611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855756" y="2377440"/>
            <a:ext cx="89611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963656" y="2404872"/>
            <a:ext cx="89611" cy="1344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071555" y="2459736"/>
            <a:ext cx="89611" cy="1289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179454" y="2542032"/>
            <a:ext cx="89611" cy="1207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287353" y="2624328"/>
            <a:ext cx="89611" cy="11247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395252" y="2734056"/>
            <a:ext cx="89611" cy="10149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94360" y="4160520"/>
            <a:ext cx="10972800" cy="210312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4360" y="4160520"/>
            <a:ext cx="109728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60" y="42519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📐  How to Read These Charts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7240" y="4617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📊 Bar Height 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75688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= Daily inventory / demand units (higher = more stock)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34840" y="4617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📈 Trending up 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3288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= Stock recovering → Resume Production signal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92440" y="4617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📉 Trending down 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90888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= Stock draining → Hold or shift production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7724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⚡ Erratic / volatile 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75688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= Regional mismatch → Transfer recommendation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3484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🎛 Surge Slider 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33288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Simulate ±50% demand surge to stress-test SKU projections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09244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🔴 Safety Line 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90888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= Minimum buffer units; below this = critical stockout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Predictions Kanban Inbox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Every AI recommendation surfaces as an actionable card your team can approve or reject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352044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📥  Action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87168"/>
            <a:ext cx="3520440" cy="17830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87168"/>
            <a:ext cx="3520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624328"/>
            <a:ext cx="777240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651760"/>
            <a:ext cx="722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SKU-999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633472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HOLD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8094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Distributor has 90 / 100 units
unsold. Pause assembly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502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F4444"/>
                </a:solidFill>
              </a:rPr>
              <a:t>95% confidence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07408"/>
            <a:ext cx="3520440" cy="17830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07408"/>
            <a:ext cx="3520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544568"/>
            <a:ext cx="777240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572000"/>
            <a:ext cx="722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SKU-777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553712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TRANSFER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0118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City A: 95 units surplus
City B: 3 units remaining.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704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F4444"/>
                </a:solidFill>
              </a:rPr>
              <a:t>85% confidence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1901952"/>
            <a:ext cx="352044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Under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2487168"/>
            <a:ext cx="3520440" cy="17830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1688" y="2487168"/>
            <a:ext cx="3520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2624328"/>
            <a:ext cx="77724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651760"/>
            <a:ext cx="722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SKU-888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633472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RESUME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298094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Distributor stock at 22 units
(&lt;30%). Restart supply chain.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39502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59E0B"/>
                </a:solidFill>
              </a:rPr>
              <a:t>78%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1688" y="4407408"/>
            <a:ext cx="3520440" cy="17830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1688" y="4407408"/>
            <a:ext cx="3520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98848" y="4544568"/>
            <a:ext cx="77724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572000"/>
            <a:ext cx="722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SKU-456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553712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QUALITY ALERT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490118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Factory: 60 units produced
Retail sales: only 4 units.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58704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59E0B"/>
                </a:solidFill>
              </a:rPr>
              <a:t>90% confidence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9016" y="1901952"/>
            <a:ext cx="352044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3608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Resolved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9016" y="2487168"/>
            <a:ext cx="3520440" cy="17830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9016" y="2487168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66176" y="2624328"/>
            <a:ext cx="77724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3608" y="2651760"/>
            <a:ext cx="722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SKU-123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16568" y="2633472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APPROVED — HOLD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298094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Team approved production
pause for 30 days.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39502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Decision logged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407408"/>
            <a:ext cx="3520440" cy="178308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407408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66176" y="4544568"/>
            <a:ext cx="77724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93608" y="4572000"/>
            <a:ext cx="722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SKU-222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6568" y="4553712"/>
            <a:ext cx="2404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REJECTED — RESUME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6176" y="490118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Management chose to
continue production run.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6" y="58704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Overridden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INGEST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Ingestion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Your factory data → AI predictions in 3 easy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29000" cy="434340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429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1" y="2057400"/>
            <a:ext cx="59436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84831"/>
            <a:ext cx="557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84831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📂  Upload CSV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560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Market Demand CSV: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99923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  product_id, factory_production_metrics,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4381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  local_retail_sales, pending_shopkeeper_orders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8770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3159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Stock Inventory CSV: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75487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  product_id, warehouse_location,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937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  current_inventory_counts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920240"/>
            <a:ext cx="3429000" cy="434340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1920240"/>
            <a:ext cx="3429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45152" y="2057400"/>
            <a:ext cx="59436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084831"/>
            <a:ext cx="557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084831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⚙️  Validate &amp;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2560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Header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99923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Data type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4381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Row count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8770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Store in SQLite via 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3159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Trigger ML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75487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51937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Demo: 1000 rows included!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920240"/>
            <a:ext cx="3429000" cy="434340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1920240"/>
            <a:ext cx="3429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85632" y="2057400"/>
            <a:ext cx="59436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2084831"/>
            <a:ext cx="557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2084831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🤖  Run Predictions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560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Load all product SKUs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299923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Apply rules A→E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34381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Score each recommendation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38770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Write to Recommendations 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3159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Dashboard refreshes live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475487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51937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Takes &lt; 2 seconds for 1000 rows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6172200"/>
            <a:ext cx="10927080" cy="438912"/>
          </a:xfrm>
          <a:prstGeom prst="roundRect">
            <a:avLst/>
          </a:prstGeom>
          <a:solidFill>
            <a:srgbClr val="14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24535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🗂  Demo Datasheets included in repo:  demo_datasheets/sales_demand_1000.csv  &amp;  demo_datasheets/stock_inventory_1000.csv  (1,000 rows each — ready to upload and run!)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Production-grade, open-source toolchain from data to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2651760" cy="46634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01952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59152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3230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Next.js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2491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React 19 App Router, SSR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63824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23697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52958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Type-safe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68496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04164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Vanilla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33425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Material Design 3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73168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84632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Recharts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13892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Interactive chart library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77840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65099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Lucide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943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Premium icon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1901952"/>
            <a:ext cx="2651760" cy="46634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1901952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Backend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2359152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243230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2" y="272491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Async Python 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3163824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323697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Uvicorn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352958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ASGI server, hot reload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66160" y="3968496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404164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SQLAlchemy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5032" y="433425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ORM for SQLite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4773168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5032" y="484632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Google OAuth2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5032" y="513892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Secure user auth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5577840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85032" y="565099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JWT Tokens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5032" y="5943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Stateless session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1901952"/>
            <a:ext cx="2651760" cy="46634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1901952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Machine Learning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2359152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9672" y="243230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Scikit-Learn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2" y="272491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LinearRegression forecaster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163824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9672" y="323697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Pandas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9672" y="352958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Feature engineering pipeline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3968496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9672" y="404164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NumPy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9672" y="433425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Statistical computations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773168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9672" y="484632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Custom Rules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9672" y="513892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5-rule deterministic engine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5577840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9672" y="565099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MAPE / WAPE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5943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Model error evaluation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98280" y="1901952"/>
            <a:ext cx="2651760" cy="46634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98280" y="1901952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62872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DevOps / Data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35440" y="2359152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54312" y="243230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SQLite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54312" y="272491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Zero-config embedded DB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35440" y="3163824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54312" y="323697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Docker Compose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54312" y="3529584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Full-stack containerization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35440" y="3968496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54312" y="404164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GitHub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54312" y="433425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Version control + CI/CD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35440" y="4773168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54312" y="484632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Python venv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54312" y="513892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Isolated dependency env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35440" y="5577840"/>
            <a:ext cx="2377440" cy="713232"/>
          </a:xfrm>
          <a:prstGeom prst="roundRect">
            <a:avLst/>
          </a:prstGeom>
          <a:solidFill>
            <a:srgbClr val="22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54312" y="565099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Monorepo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54312" y="5943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Single repo, two apps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554480" cy="2468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47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Quickstart — Run in 4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Clone → Install → Seed → npm run dev  |  Browser: localhost:3001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2651760" cy="44348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01952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29968"/>
            <a:ext cx="45720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04825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Clone &amp;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2487168"/>
            <a:ext cx="2432304" cy="315468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78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git clone https://github.com/KadirKh/DemandFlow-AI.git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cd DemandFlow-AI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675887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npm install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144" y="1901952"/>
            <a:ext cx="2651760" cy="44348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144" y="1901952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5303" y="2029968"/>
            <a:ext cx="45720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1" y="2057400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1" y="204825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Setup Python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2487168"/>
            <a:ext cx="2432304" cy="315468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2578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cd apps/backend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12724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python -m venv venv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3675887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venv\Scripts\activate    # Windows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4224527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pip install -r requirements.txt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901952"/>
            <a:ext cx="2651760" cy="44348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1901952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19088" y="2029968"/>
            <a:ext cx="45720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2057400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0296" y="204825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Seed Database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91656" y="2487168"/>
            <a:ext cx="2432304" cy="315468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2578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python -m app.utils.seed_data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312724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3096" y="3675887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# Populates: products, warehouses,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4224527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# orders, inventory, suppliers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5712" y="1901952"/>
            <a:ext cx="2651760" cy="44348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25712" y="1901952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62872" y="2029968"/>
            <a:ext cx="4572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2057400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204825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Run Dev Environment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2487168"/>
            <a:ext cx="2432304" cy="315468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578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cd ../../    # back to root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12724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npm run dev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3675887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224527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→  Frontend:  localhost:3001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77316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→  Backend:   localhost:8000/docs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0" y="6446520"/>
            <a:ext cx="3200400" cy="320040"/>
          </a:xfrm>
          <a:prstGeom prst="roundRect">
            <a:avLst/>
          </a:prstGeom>
          <a:solidFill>
            <a:srgbClr val="14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6492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Frontend Dashboard  →  http://localhost:3001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6446520"/>
            <a:ext cx="3200400" cy="320040"/>
          </a:xfrm>
          <a:prstGeom prst="roundRect">
            <a:avLst/>
          </a:prstGeom>
          <a:solidFill>
            <a:srgbClr val="14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6492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API Swagger Docs  →  http://localhost:8000/docs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Business Impact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430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514600" cy="128016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4864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441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₹13.5L+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Working Capital Freed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Per 30 days, 3 approved 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234440"/>
            <a:ext cx="2514600" cy="128016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79" y="1234440"/>
            <a:ext cx="54864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3441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B6D4"/>
                </a:solidFill>
              </a:rPr>
              <a:t>765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7647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Capacity Shift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203911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Assembly hours reallocated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234440"/>
            <a:ext cx="2514600" cy="128016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54864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441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</a:rPr>
              <a:t>₹9.45L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647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Godown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3911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Storage cost reduction (30d)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19" y="1234440"/>
            <a:ext cx="2514600" cy="128016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19" y="123444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3441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</a:rPr>
              <a:t>₹22.5L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7647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Credit Risk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03911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Payment lockup prevented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697480"/>
            <a:ext cx="5349240" cy="30632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788920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Platform 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108960"/>
            <a:ext cx="4983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✅  AI Rules Engine (5 decision rules)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30-day demand forecasting (LinearRegression)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Kanban Predictions Inbox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Research Lab (3 SKU deep-dive charts)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Surge Simulation slider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697480"/>
            <a:ext cx="5422392" cy="3063240"/>
          </a:xfrm>
          <a:prstGeom prst="round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788920"/>
            <a:ext cx="5056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Indian Supply Chain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108960"/>
            <a:ext cx="50566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✅  Indian market metrics (₹ Working Capital, Godown, Credit Risk)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Interactive Tuning sliders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CSV Ingest Studio (with 1000-row demo)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Google OAuth2 authentication</a:t>
            </a:r>
          </a:p>
          <a:p>
            <a:pPr algn="l"/>
            <a:r>
              <a:rPr sz="1050" b="0">
                <a:solidFill>
                  <a:srgbClr val="94A3B8"/>
                </a:solidFill>
              </a:rPr>
              <a:t>✅  Full monorepo (Next.js + FastAPI + Docker)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989320"/>
            <a:ext cx="109728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🚀  DemandFlow AI  •  github.com/KadirKh/DemandFlow-AI  •  Built with Next.js, FastAPI, and Scikit-Learn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